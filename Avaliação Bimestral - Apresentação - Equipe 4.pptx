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9" r:id="rId4"/>
    <p:sldId id="268" r:id="rId5"/>
    <p:sldId id="270" r:id="rId6"/>
    <p:sldId id="267" r:id="rId7"/>
    <p:sldId id="266" r:id="rId8"/>
    <p:sldId id="271" r:id="rId9"/>
    <p:sldId id="272" r:id="rId10"/>
    <p:sldId id="265" r:id="rId11"/>
    <p:sldId id="264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880B"/>
    <a:srgbClr val="CF8E0B"/>
    <a:srgbClr val="CB8B0B"/>
    <a:srgbClr val="BA7F0A"/>
    <a:srgbClr val="EAA0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50" autoAdjust="0"/>
    <p:restoredTop sz="94206" autoAdjust="0"/>
  </p:normalViewPr>
  <p:slideViewPr>
    <p:cSldViewPr snapToGrid="0">
      <p:cViewPr varScale="1">
        <p:scale>
          <a:sx n="67" d="100"/>
          <a:sy n="67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C2EF2-905F-4C2D-B966-F6F1FBD0C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84AF0E-EC9D-4357-A3CE-A3E7C125F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53ABFA-B2D5-4124-B991-FABEBEA0E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CE6-705A-493C-B6F8-1BA54DD027B8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AE7BEA-BDD5-4F34-BEF3-97C8A6AD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759FE9-F645-4FAC-BB95-DAF113EE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3C8F-D663-40B6-9CF3-A822C00A2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4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FDF88B-5F3F-4CAC-A268-3FD6246C2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C50ED9-37E3-4B7C-AC18-E45F89774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56C5D7-B456-4469-8F5B-4B5D9D5C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CE6-705A-493C-B6F8-1BA54DD027B8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26474D-2C4C-4531-848C-17FEEEAB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90B113-8DC4-49CC-9EF0-9D4EFF00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3C8F-D663-40B6-9CF3-A822C00A2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636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B9DE3-B88C-49B5-95F8-DB7EAD4DC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AE5EE0-0155-487F-8447-F7E79DB26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3C0957-618D-4451-9177-58784D8D3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CE6-705A-493C-B6F8-1BA54DD027B8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85FCD5-6C72-4707-9A08-C13EF3EF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C5C573-C1F1-4F3F-878C-01E84E14E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3C8F-D663-40B6-9CF3-A822C00A2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09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DE796-031F-4AED-AE10-17498503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A870A9-4A75-4617-8053-8DEF9CCD4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CCC1C8-4083-40DB-B9CA-FC73A88DF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594DD5-23F1-47D7-BAD9-DA8437193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CE6-705A-493C-B6F8-1BA54DD027B8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E31B66-97B6-41C5-B71E-C64CB018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663D30-064F-4A96-9443-2BCC6B92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3C8F-D663-40B6-9CF3-A822C00A2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1604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DB49B-B2D4-40C8-AEDD-4E2C935E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17FAE4-82E5-4740-9625-53E684BC0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6E1142-0DCA-45C2-8C76-C44468000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3A55DE-40B5-4AFE-ACD9-F18596844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6EE4FC3-DC59-4370-B363-CF29A8E1B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F7146F-AB5C-4808-90B0-604CC2078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CE6-705A-493C-B6F8-1BA54DD027B8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9043F9-B09E-409B-A586-AB003A27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8B3C047-08F0-4954-8188-5178BEA4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3C8F-D663-40B6-9CF3-A822C00A2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933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2325E-DCC7-47E4-B210-0C9DE4ACE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82C04E9-25A0-49FE-B3CA-EB39EE03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CE6-705A-493C-B6F8-1BA54DD027B8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6641094-4F5E-43A1-859F-33C2FA3E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F74529E-FB85-4806-A04F-0635620F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3C8F-D663-40B6-9CF3-A822C00A2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1312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E7CE85-E7FC-4DCD-AFFB-A51A97DDA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CE6-705A-493C-B6F8-1BA54DD027B8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284A659-50AF-4FCC-A7FD-DED50694C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8B9191-1E3E-4DCE-A930-81D1EB35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3C8F-D663-40B6-9CF3-A822C00A2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5144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4365E-5557-400A-B181-78FEA79F8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9ED06E-37CB-43C3-9FD5-727E445C2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396152-72C7-4C9D-8073-6AEAE4A9C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26CE02-BE48-49D3-9026-ABA852704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CE6-705A-493C-B6F8-1BA54DD027B8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D7CBF4-A0AF-4460-89A6-65AE8392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3B0F7F-6BC6-47E3-8487-308AB6A4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3C8F-D663-40B6-9CF3-A822C00A2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5202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9A533-E75A-4C53-865D-7F443B432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43AB363-F755-426A-997F-E3F8BDD9C2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1A7139-EC25-47D2-8873-BFBF439DA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FA918D-BD95-4F18-BD33-4A3BA9B9E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CE6-705A-493C-B6F8-1BA54DD027B8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4BE99C-71AF-4502-BD98-317D1F17E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D147F7-896A-4637-8FCA-984D7E2B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3C8F-D663-40B6-9CF3-A822C00A2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108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2E4D9-1842-4D9B-AD56-492AAF4B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B94168-0BD4-408D-B867-79F604DB7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B6CA20-C1CD-45B2-BFC8-C32BBA27A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CE6-705A-493C-B6F8-1BA54DD027B8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52F111-B905-449F-837B-EE018FA24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6B0631-AA36-455F-ABB6-DBD52364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3C8F-D663-40B6-9CF3-A822C00A2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030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61B866-9BC5-4DBE-8D8E-66B7CE769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3D08F9-8155-4BBC-A7FA-9ED73390F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64B677-38D9-4484-8B62-B03411C4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CE6-705A-493C-B6F8-1BA54DD027B8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8C3AA6-1459-4B73-B882-AD5C9B665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F390C5-A9F5-47E6-BA6D-7C4F8586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73C8F-D663-40B6-9CF3-A822C00A2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60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8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A3C30E4-C92A-4A2C-AA26-872ED50D0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880C34-AD39-4262-B7F9-27EBBB79F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B165D3-E8EB-4593-8047-0C2CF506C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3FCE6-705A-493C-B6F8-1BA54DD027B8}" type="datetimeFigureOut">
              <a:rPr lang="pt-BR" smtClean="0"/>
              <a:t>04/05/2022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201A7D-785E-4542-B519-45FCD57DC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8E3297-E681-4356-8D55-2F230FD4E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73C8F-D663-40B6-9CF3-A822C00A2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14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jllbank.mn@gmail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1C944B7-CA84-42D5-A9D0-9BE6E8FC02D2}"/>
              </a:ext>
            </a:extLst>
          </p:cNvPr>
          <p:cNvSpPr/>
          <p:nvPr/>
        </p:nvSpPr>
        <p:spPr>
          <a:xfrm>
            <a:off x="-228600" y="0"/>
            <a:ext cx="9708777" cy="6858000"/>
          </a:xfrm>
          <a:prstGeom prst="rect">
            <a:avLst/>
          </a:prstGeom>
          <a:solidFill>
            <a:srgbClr val="C7880B"/>
          </a:solidFill>
          <a:ln>
            <a:solidFill>
              <a:srgbClr val="EAA0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D237CB6-9B56-4CA1-83AE-DF401C04D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52" y="2014714"/>
            <a:ext cx="3238095" cy="2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6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F4119-6980-4BCD-BA46-41845A4F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600" dirty="0">
                <a:latin typeface="Franklin Gothic Medium" panose="020B0603020102020204" pitchFamily="34" charset="0"/>
              </a:rPr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02B35C-D550-4035-9737-1E279D43D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 Introdução;</a:t>
            </a:r>
          </a:p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 Como o banco funciona;</a:t>
            </a:r>
          </a:p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 Problemas burocráticos;</a:t>
            </a:r>
          </a:p>
          <a:p>
            <a:pPr marL="0" indent="0">
              <a:buNone/>
            </a:pPr>
            <a:r>
              <a:rPr lang="pt-BR" sz="3600" b="1">
                <a:latin typeface="Courier New" panose="02070309020205020404" pitchFamily="49" charset="0"/>
                <a:cs typeface="Courier New" panose="02070309020205020404" pitchFamily="49" charset="0"/>
              </a:rPr>
              <a:t>- Informações </a:t>
            </a: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pt-BR" sz="3600" b="1">
                <a:latin typeface="Courier New" panose="02070309020205020404" pitchFamily="49" charset="0"/>
                <a:cs typeface="Courier New" panose="02070309020205020404" pitchFamily="49" charset="0"/>
              </a:rPr>
              <a:t>xtras</a:t>
            </a: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B09439-44E8-4BAF-A353-749DF0BE0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280" y="230188"/>
            <a:ext cx="1438781" cy="14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17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F4119-6980-4BCD-BA46-41845A4F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600" dirty="0">
                <a:latin typeface="Franklin Gothic Medium" panose="020B0603020102020204" pitchFamily="34" charset="0"/>
              </a:rPr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02B35C-D550-4035-9737-1E279D43D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 Quem nós somos;</a:t>
            </a:r>
          </a:p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 Diferencial;</a:t>
            </a:r>
          </a:p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 Mudanças na estruturação do projeto.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B09439-44E8-4BAF-A353-749DF0BE0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280" y="230188"/>
            <a:ext cx="1438781" cy="14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71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F4119-6980-4BCD-BA46-41845A4F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Franklin Gothic Medium" panose="020B0603020102020204" pitchFamily="34" charset="0"/>
              </a:rPr>
              <a:t>COMO O BANCO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02B35C-D550-4035-9737-1E279D43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Perfil do Usuário</a:t>
            </a:r>
          </a:p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- Cadastro / criar conta.</a:t>
            </a:r>
          </a:p>
          <a:p>
            <a:pPr marL="0" indent="0">
              <a:buNone/>
            </a:pPr>
            <a:endParaRPr lang="pt-BR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Operações Bancárias</a:t>
            </a:r>
          </a:p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B09439-44E8-4BAF-A353-749DF0BE0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280" y="230188"/>
            <a:ext cx="1438781" cy="14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96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F4119-6980-4BCD-BA46-41845A4F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Franklin Gothic Medium" panose="020B0603020102020204" pitchFamily="34" charset="0"/>
              </a:rPr>
              <a:t>COMO O BANCO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02B35C-D550-4035-9737-1E279D43D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Personalização da Conta</a:t>
            </a:r>
          </a:p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- mapa de calor.</a:t>
            </a:r>
          </a:p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Analise Exclusiva da Conta (pago)</a:t>
            </a:r>
          </a:p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- sugestões de administração do dinheiro.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B09439-44E8-4BAF-A353-749DF0BE0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280" y="230188"/>
            <a:ext cx="1438781" cy="14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12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F4119-6980-4BCD-BA46-41845A4F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800" dirty="0">
                <a:latin typeface="Franklin Gothic Medium" panose="020B0603020102020204" pitchFamily="34" charset="0"/>
              </a:rPr>
              <a:t>PROBLEMAS</a:t>
            </a:r>
            <a:r>
              <a:rPr lang="pt-BR" sz="6000" dirty="0">
                <a:latin typeface="Franklin Gothic Medium" panose="020B0603020102020204" pitchFamily="34" charset="0"/>
              </a:rPr>
              <a:t> BUROCRÁTICOS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02B35C-D550-4035-9737-1E279D43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51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b="1">
                <a:latin typeface="Courier New" panose="02070309020205020404" pitchFamily="49" charset="0"/>
                <a:cs typeface="Courier New" panose="02070309020205020404" pitchFamily="49" charset="0"/>
              </a:rPr>
              <a:t>Tarifas</a:t>
            </a:r>
          </a:p>
          <a:p>
            <a:pPr marL="0" indent="0">
              <a:buNone/>
            </a:pPr>
            <a:r>
              <a:rPr lang="pt-BR" sz="3600" b="1">
                <a:latin typeface="Courier New" panose="02070309020205020404" pitchFamily="49" charset="0"/>
                <a:cs typeface="Courier New" panose="02070309020205020404" pitchFamily="49" charset="0"/>
              </a:rPr>
              <a:t>Taxas de juros</a:t>
            </a:r>
          </a:p>
          <a:p>
            <a:pPr marL="0" indent="0">
              <a:buNone/>
            </a:pPr>
            <a:r>
              <a:rPr lang="pt-BR" sz="3600" b="1">
                <a:latin typeface="Courier New" panose="02070309020205020404" pitchFamily="49" charset="0"/>
                <a:cs typeface="Courier New" panose="02070309020205020404" pitchFamily="49" charset="0"/>
              </a:rPr>
              <a:t>Sistema Financeiro Nacional (SFN)</a:t>
            </a:r>
          </a:p>
          <a:p>
            <a:pPr marL="0" indent="0">
              <a:buNone/>
            </a:pPr>
            <a:r>
              <a:rPr lang="pt-BR" sz="3600" b="1">
                <a:latin typeface="Courier New" panose="02070309020205020404" pitchFamily="49" charset="0"/>
                <a:cs typeface="Courier New" panose="02070309020205020404" pitchFamily="49" charset="0"/>
              </a:rPr>
              <a:t>    -Fiscalização de atividades de Crédito;</a:t>
            </a:r>
          </a:p>
          <a:p>
            <a:pPr marL="0" indent="0">
              <a:buNone/>
            </a:pPr>
            <a:r>
              <a:rPr lang="pt-BR" sz="3600" b="1">
                <a:latin typeface="Courier New" panose="02070309020205020404" pitchFamily="49" charset="0"/>
                <a:cs typeface="Courier New" panose="02070309020205020404" pitchFamily="49" charset="0"/>
              </a:rPr>
              <a:t>    -Fiscalizacão de Atividades de circulação de moeda.</a:t>
            </a:r>
          </a:p>
          <a:p>
            <a:pPr marL="0" indent="0">
              <a:buNone/>
            </a:pPr>
            <a:endParaRPr lang="pt-BR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B09439-44E8-4BAF-A353-749DF0BE0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280" y="230188"/>
            <a:ext cx="1438781" cy="14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581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F4119-6980-4BCD-BA46-41845A4F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600" dirty="0">
                <a:latin typeface="Franklin Gothic Medium" panose="020B0603020102020204" pitchFamily="34" charset="0"/>
              </a:rPr>
              <a:t>EXTRAS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B09439-44E8-4BAF-A353-749DF0BE0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280" y="230188"/>
            <a:ext cx="1438781" cy="144487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D7C8818-AA67-49C2-B9B4-B032BFA2C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1636"/>
            <a:ext cx="12192000" cy="41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70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F4119-6980-4BCD-BA46-41845A4F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600" dirty="0">
                <a:latin typeface="Franklin Gothic Medium" panose="020B0603020102020204" pitchFamily="34" charset="0"/>
              </a:rPr>
              <a:t>EXTRAS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346683D-9F95-4064-A25C-65111527F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354" y="-131275"/>
            <a:ext cx="6959787" cy="698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278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1409E-3D80-4925-BAE4-F4ED7E3D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Franklin Gothic Medium" panose="020B0603020102020204" pitchFamily="34" charset="0"/>
              </a:rPr>
              <a:t>EXTRAS</a:t>
            </a:r>
            <a:endParaRPr lang="pt-BR" sz="6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760602-5F80-437E-A935-584B49D56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jllbank.mn@gmail.com</a:t>
            </a: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buNone/>
            </a:pPr>
            <a:endParaRPr lang="pt-BR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 Transferências off-line;</a:t>
            </a:r>
          </a:p>
          <a:p>
            <a:pPr>
              <a:buFontTx/>
              <a:buChar char="-"/>
            </a:pPr>
            <a:endParaRPr lang="pt-BR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 Open banking.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0321474-7756-492E-917D-7AD6D5AF4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181" y="212603"/>
            <a:ext cx="1438781" cy="14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09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1C944B7-CA84-42D5-A9D0-9BE6E8FC02D2}"/>
              </a:ext>
            </a:extLst>
          </p:cNvPr>
          <p:cNvSpPr/>
          <p:nvPr/>
        </p:nvSpPr>
        <p:spPr>
          <a:xfrm>
            <a:off x="-255494" y="0"/>
            <a:ext cx="7705165" cy="6858000"/>
          </a:xfrm>
          <a:prstGeom prst="rect">
            <a:avLst/>
          </a:prstGeom>
          <a:solidFill>
            <a:srgbClr val="C7880B"/>
          </a:solidFill>
          <a:ln>
            <a:solidFill>
              <a:srgbClr val="EAA0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6BC08F-60CB-463B-9570-2AA82CEC97EB}"/>
              </a:ext>
            </a:extLst>
          </p:cNvPr>
          <p:cNvSpPr txBox="1"/>
          <p:nvPr/>
        </p:nvSpPr>
        <p:spPr>
          <a:xfrm>
            <a:off x="7906871" y="3684492"/>
            <a:ext cx="38946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tabLst>
                <a:tab pos="2743200" algn="ctr"/>
                <a:tab pos="5486400" algn="r"/>
                <a:tab pos="2743200" algn="ctr"/>
                <a:tab pos="5220970" algn="l"/>
                <a:tab pos="5486400" algn="r"/>
              </a:tabLst>
            </a:pPr>
            <a:r>
              <a:rPr lang="pt-BR" sz="3200" b="0" dirty="0">
                <a:solidFill>
                  <a:srgbClr val="C7880B"/>
                </a:solidFill>
                <a:effectLst/>
                <a:latin typeface="Franklin Gothic Medium" panose="020B0603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Jessica Bianca</a:t>
            </a:r>
            <a:endParaRPr lang="pt-BR" sz="3200" b="1" dirty="0">
              <a:solidFill>
                <a:srgbClr val="C7880B"/>
              </a:solidFill>
              <a:effectLst/>
              <a:latin typeface="Franklin Gothic Medium" panose="020B0603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tabLst>
                <a:tab pos="2743200" algn="ctr"/>
                <a:tab pos="5486400" algn="r"/>
                <a:tab pos="2743200" algn="ctr"/>
                <a:tab pos="5220970" algn="l"/>
                <a:tab pos="5486400" algn="r"/>
              </a:tabLst>
            </a:pPr>
            <a:r>
              <a:rPr lang="pt-BR" sz="3200" b="0" dirty="0" err="1">
                <a:solidFill>
                  <a:srgbClr val="C7880B"/>
                </a:solidFill>
                <a:effectLst/>
                <a:latin typeface="Franklin Gothic Medium" panose="020B0603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Lorrany</a:t>
            </a:r>
            <a:endParaRPr lang="pt-BR" sz="3200" b="1" dirty="0">
              <a:solidFill>
                <a:srgbClr val="C7880B"/>
              </a:solidFill>
              <a:effectLst/>
              <a:latin typeface="Franklin Gothic Medium" panose="020B0603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tabLst>
                <a:tab pos="2743200" algn="ctr"/>
                <a:tab pos="5486400" algn="r"/>
                <a:tab pos="2743200" algn="ctr"/>
                <a:tab pos="5220970" algn="l"/>
                <a:tab pos="5486400" algn="r"/>
              </a:tabLst>
            </a:pPr>
            <a:r>
              <a:rPr lang="pt-BR" sz="3200" b="0" dirty="0">
                <a:solidFill>
                  <a:srgbClr val="C7880B"/>
                </a:solidFill>
                <a:effectLst/>
                <a:latin typeface="Franklin Gothic Medium" panose="020B0603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Luiza</a:t>
            </a:r>
            <a:endParaRPr lang="pt-BR" sz="3200" b="1" dirty="0">
              <a:solidFill>
                <a:srgbClr val="C7880B"/>
              </a:solidFill>
              <a:effectLst/>
              <a:latin typeface="Franklin Gothic Medium" panose="020B0603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tabLst>
                <a:tab pos="2743200" algn="ctr"/>
                <a:tab pos="5486400" algn="r"/>
                <a:tab pos="2743200" algn="ctr"/>
                <a:tab pos="5220970" algn="l"/>
                <a:tab pos="5486400" algn="r"/>
              </a:tabLst>
            </a:pPr>
            <a:r>
              <a:rPr lang="pt-BR" sz="3200" b="0" dirty="0">
                <a:solidFill>
                  <a:srgbClr val="C7880B"/>
                </a:solidFill>
                <a:effectLst/>
                <a:latin typeface="Franklin Gothic Medium" panose="020B0603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Maria Helena</a:t>
            </a:r>
            <a:endParaRPr lang="pt-BR" sz="3200" b="1" dirty="0">
              <a:solidFill>
                <a:srgbClr val="C7880B"/>
              </a:solidFill>
              <a:effectLst/>
              <a:latin typeface="Franklin Gothic Medium" panose="020B0603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tabLst>
                <a:tab pos="2743200" algn="ctr"/>
                <a:tab pos="5486400" algn="r"/>
                <a:tab pos="2743200" algn="ctr"/>
                <a:tab pos="5220970" algn="l"/>
                <a:tab pos="5486400" algn="r"/>
              </a:tabLst>
            </a:pPr>
            <a:r>
              <a:rPr lang="pt-BR" sz="3200" b="0" dirty="0" err="1">
                <a:solidFill>
                  <a:srgbClr val="C7880B"/>
                </a:solidFill>
                <a:effectLst/>
                <a:latin typeface="Franklin Gothic Medium" panose="020B0603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Nico</a:t>
            </a:r>
            <a:r>
              <a:rPr lang="pt-BR" sz="2600" b="0" dirty="0" err="1">
                <a:solidFill>
                  <a:srgbClr val="C7880B"/>
                </a:solidFill>
                <a:effectLst/>
                <a:latin typeface="Franklin Gothic Medium" panose="020B0603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endParaRPr lang="pt-BR" sz="2600" b="1" dirty="0">
              <a:solidFill>
                <a:srgbClr val="C7880B"/>
              </a:solidFill>
              <a:effectLst/>
              <a:latin typeface="Franklin Gothic Medium" panose="020B0603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A16A048-9180-4405-80DC-CA4F723F315F}"/>
              </a:ext>
            </a:extLst>
          </p:cNvPr>
          <p:cNvSpPr txBox="1"/>
          <p:nvPr/>
        </p:nvSpPr>
        <p:spPr>
          <a:xfrm>
            <a:off x="7906871" y="497542"/>
            <a:ext cx="3894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C7880B"/>
                </a:solidFill>
                <a:latin typeface="Franklin Gothic Medium" panose="020B0603020102020204" pitchFamily="34" charset="0"/>
              </a:rPr>
              <a:t>PJI – </a:t>
            </a:r>
            <a:r>
              <a:rPr lang="pt-BR" sz="3200" dirty="0" err="1">
                <a:solidFill>
                  <a:srgbClr val="C7880B"/>
                </a:solidFill>
                <a:latin typeface="Franklin Gothic Medium" panose="020B0603020102020204" pitchFamily="34" charset="0"/>
              </a:rPr>
              <a:t>Profº</a:t>
            </a:r>
            <a:r>
              <a:rPr lang="pt-BR" sz="3200" dirty="0">
                <a:solidFill>
                  <a:srgbClr val="C7880B"/>
                </a:solidFill>
                <a:latin typeface="Franklin Gothic Medium" panose="020B0603020102020204" pitchFamily="34" charset="0"/>
              </a:rPr>
              <a:t> Veríssimo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CCADC2-7C0B-436C-8DD2-F326B76BD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411" y="2014605"/>
            <a:ext cx="3243353" cy="28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83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1C944B7-CA84-42D5-A9D0-9BE6E8FC02D2}"/>
              </a:ext>
            </a:extLst>
          </p:cNvPr>
          <p:cNvSpPr/>
          <p:nvPr/>
        </p:nvSpPr>
        <p:spPr>
          <a:xfrm>
            <a:off x="-255494" y="0"/>
            <a:ext cx="12832242" cy="6858000"/>
          </a:xfrm>
          <a:prstGeom prst="rect">
            <a:avLst/>
          </a:prstGeom>
          <a:solidFill>
            <a:srgbClr val="C7880B"/>
          </a:solidFill>
          <a:ln>
            <a:solidFill>
              <a:srgbClr val="EAA0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7A9AB81-F881-4DFF-BBBF-E9374404867F}"/>
              </a:ext>
            </a:extLst>
          </p:cNvPr>
          <p:cNvSpPr txBox="1"/>
          <p:nvPr/>
        </p:nvSpPr>
        <p:spPr>
          <a:xfrm>
            <a:off x="2765244" y="4867835"/>
            <a:ext cx="6790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Franklin Gothic Medium" panose="020B0603020102020204" pitchFamily="34" charset="0"/>
              </a:rPr>
              <a:t>O BANCO QUE (VAI) FUNCIONA(R). </a:t>
            </a:r>
          </a:p>
          <a:p>
            <a:pPr algn="ctr"/>
            <a:r>
              <a:rPr lang="pt-BR" sz="3200" dirty="0">
                <a:latin typeface="Franklin Gothic Medium" panose="020B0603020102020204" pitchFamily="34" charset="0"/>
              </a:rPr>
              <a:t>DE VERDADE.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44E751B-2F13-43C2-AEBF-5E62CCFA3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52" y="1367601"/>
            <a:ext cx="3238095" cy="2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97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157</Words>
  <Application>Microsoft Office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Franklin Gothic Medium</vt:lpstr>
      <vt:lpstr>Tema do Office</vt:lpstr>
      <vt:lpstr>Apresentação do PowerPoint</vt:lpstr>
      <vt:lpstr>SUMÁRIO</vt:lpstr>
      <vt:lpstr>INTRODUÇÃO</vt:lpstr>
      <vt:lpstr>COMO O BANCO FUNCIONA</vt:lpstr>
      <vt:lpstr>COMO O BANCO FUNCIONA</vt:lpstr>
      <vt:lpstr>PROBLEMAS BUROCRÁTICOS</vt:lpstr>
      <vt:lpstr>EXTRAS</vt:lpstr>
      <vt:lpstr>EXTRAS</vt:lpstr>
      <vt:lpstr>EXTRAS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Maria Helena Baldan Lemes</dc:creator>
  <cp:lastModifiedBy>Maria Helena Baldan Lemes</cp:lastModifiedBy>
  <cp:revision>9</cp:revision>
  <dcterms:created xsi:type="dcterms:W3CDTF">2022-04-25T04:23:50Z</dcterms:created>
  <dcterms:modified xsi:type="dcterms:W3CDTF">2022-05-04T12:21:45Z</dcterms:modified>
</cp:coreProperties>
</file>